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Tanıtımı kısaca yapın. Alev segmentasyonu = makine öğrenmesi yok, tamamen klasik görüntü işleme.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Sunum 6 ana bölümden oluşuyor, tam sınav kriterlerine göre hazırlandı.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Neden bu konuyu seçtik: can güvenliği + kısıtlı donanım + açıklanabilirlik üçlüsü. Derin öğrenmeyi kasıtlı dışladık.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 zorluk bir kanalın neden eklendi sorusuna cevap veriyor.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Düşük donanım gerçekten önemli: orman kulesi kameralarının çoğunda GPU yok.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Neden bu veri seti: piksel düzeyi maske mevcut → IoU ölçümü mümkün.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Görsel çeşitlilik: bu yüzden 3 farklı kaynak birleştirdik.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 sadece yeniden etiketleme için — segmentasyonumuzu SAM yapmıyor.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Aynı girdi her koşulda birebir aynı çıktı — tam deterministik, yeniden üretilebilir.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Sıra önemli: Gauss → gürültü azalt, Bilateral → kenar koru, CLAHE → kontrast artır.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 kanal farklı senaryoda devreye giriyor. Birbirinin başarısızlığını telafi ediyor.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tablo neden tek kanalın yetmediğini görsel olarak kanıtlıyor.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Oylama projenin en kritik tasarım kararı. VOTE_THR=3 deneysel olarak 1327 görsel üzerinde seçildi.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Açma önce (FP temizle), kapama sonra (boşluk doldur). Sıra kritik.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IoU daha katı, Dice daha hassas. İkisi birlikte raporlandığında tam tablo ortaya çıkıyor.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İki hedef de aşıldı. Histogram sağa çarpık — büyük çoğunluk başarılı.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koşullarda %96+ IoU mümkün — algoritma elverişli sahnede mükemmele yakın.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Hata haritaları güçlü analitik araç — nerede başarısız olduğumuzu piksel düzeyinde görüyoruz.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görsel sunumun en güçlü slaydı — pipeline'ın uçtan uca çalışmasını gösteriyor.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Görsel karşılaştırma ile sayısal değer birbirini destekliyor — bu önemli.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Sayısal kanıt + görsel kanıt + literatür desteği — üçlü doğrulama.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3×3 → 9×9 monoton artış, 9×9 → 13×13 monoton düşüş. Optimal nokta net.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Güçlü yönlerde şeffaflığı vurgulayın — yangın tespitinde kara kutu etik sorun.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Gelecek çalışmalar kısıtlardan doğrudan geliyor — gösterilen tutarlılık önemli.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temel mesaj: (1) ML olmadan %73,8 IoU, (2) şeffaf/açıklanabilir, (3) düşük donanımda çalışır.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212080" y="0"/>
            <a:ext cx="3931920" cy="5143500"/>
          </a:xfrm>
          <a:prstGeom prst="rect">
            <a:avLst/>
          </a:prstGeom>
          <a:solidFill>
            <a:srgbClr val="142D47"/>
          </a:solidFill>
          <a:ln w="12700">
            <a:solidFill>
              <a:srgbClr val="142D47"/>
            </a:solidFill>
            <a:prstDash val="solid"/>
          </a:ln>
        </p:spPr>
        <p:txBody>
          <a:bodyPr/>
          <a:p/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57800" y="137160"/>
            <a:ext cx="3749040" cy="4846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" y="5029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B8D8"/>
                </a:solidFill>
              </a:rPr>
              <a:t>BIM 320 · Görüntü İşleme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94360" y="914400"/>
            <a:ext cx="45720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Yangın Görüntülerinde</a:t>
            </a:r>
            <a:endParaRPr lang="en-US" sz="2900" dirty="0"/>
          </a:p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Alev Segmentasyonu</a:t>
            </a:r>
            <a:endParaRPr lang="en-US" sz="2900" dirty="0"/>
          </a:p>
        </p:txBody>
      </p:sp>
      <p:sp>
        <p:nvSpPr>
          <p:cNvPr id="7" name="Shape 4"/>
          <p:cNvSpPr/>
          <p:nvPr/>
        </p:nvSpPr>
        <p:spPr>
          <a:xfrm>
            <a:off x="594360" y="2724912"/>
            <a:ext cx="2377440" cy="45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594360" y="285292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B8D8"/>
                </a:solidFill>
              </a:rPr>
              <a:t>Büşra Demir  ·  Elif Bilge Güleç  ·  Ümmü Habibe Yüce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94360" y="3218688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B8D8"/>
                </a:solidFill>
              </a:rPr>
              <a:t>Danışman: Dr. Hasibe Büşra Aytekin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94360" y="443484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7E9B"/>
                </a:solidFill>
              </a:rPr>
              <a:t>İstanbul Sabahattin Zaim Üniversitesi  ·  Bilgisayar Mühendisliği  ·  Mayıs 2026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772400" y="489204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2 / 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12064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Sunum Planı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1463040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11480" y="1234440"/>
            <a:ext cx="42062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11480" y="1234440"/>
            <a:ext cx="594360" cy="10058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11480" y="1234440"/>
            <a:ext cx="594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123444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5C"/>
                </a:solidFill>
              </a:rPr>
              <a:t>Problem &amp; Motivasyon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800600" y="1234440"/>
            <a:ext cx="42062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800600" y="1234440"/>
            <a:ext cx="594360" cy="100584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800600" y="1234440"/>
            <a:ext cx="594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486400" y="123444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5C"/>
                </a:solidFill>
              </a:rPr>
              <a:t>Veri Seti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11480" y="2404872"/>
            <a:ext cx="42062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11480" y="2404872"/>
            <a:ext cx="594360" cy="10058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11480" y="2404872"/>
            <a:ext cx="594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97280" y="2404872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5C"/>
                </a:solidFill>
              </a:rPr>
              <a:t>Yöntem / Pipeline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800600" y="2404872"/>
            <a:ext cx="42062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4800600" y="2404872"/>
            <a:ext cx="594360" cy="100584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800600" y="2404872"/>
            <a:ext cx="594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486400" y="2404872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5C"/>
                </a:solidFill>
              </a:rPr>
              <a:t>Deneysel Sonuçlar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11480" y="3575304"/>
            <a:ext cx="42062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411480" y="3575304"/>
            <a:ext cx="594360" cy="1005840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11480" y="3575304"/>
            <a:ext cx="594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97280" y="3575304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5C"/>
                </a:solidFill>
              </a:rPr>
              <a:t>Parametre Analizi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4800600" y="3575304"/>
            <a:ext cx="42062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4800600" y="3575304"/>
            <a:ext cx="594360" cy="1005840"/>
          </a:xfrm>
          <a:prstGeom prst="rect">
            <a:avLst/>
          </a:prstGeom>
          <a:solidFill>
            <a:srgbClr val="C0770A"/>
          </a:solidFill>
          <a:ln w="12700">
            <a:solidFill>
              <a:srgbClr val="C0770A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4800600" y="3575304"/>
            <a:ext cx="594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486400" y="3575304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5C"/>
                </a:solidFill>
              </a:rPr>
              <a:t>Sonuç &amp; Gelecek Çalışma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772400" y="489204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3 / 25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164592"/>
            <a:ext cx="1920240" cy="246888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" y="164592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6DA4"/>
                </a:solidFill>
              </a:rPr>
              <a:t>01 · PROBLEM &amp; MOTIVASYON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512064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Neden Alev Segmentasyonu?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11480" y="1078992"/>
            <a:ext cx="1463040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11480" y="1234440"/>
            <a:ext cx="41148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11480" y="1234440"/>
            <a:ext cx="64008" cy="10972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94360" y="1307592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</a:rPr>
              <a:t>Kritik Tehdit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673352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İklim değişikliğiyle orman yangınları son 10 yılda %30 arttı. Kentsel, ormanlık ve endüstriyel alanlarda geri dönülemez kayıplar.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0" y="1234440"/>
            <a:ext cx="41148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754880" y="1234440"/>
            <a:ext cx="64008" cy="10972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937760" y="1307592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</a:rPr>
              <a:t>Mevcut Sistemlerin Yetersizliği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1673352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Duman &amp; ısı sensörleri fiziksel temas ya da eşik sıcaklık gerektiriyor. Yangın çoktan yayıldıktan sonra alarm verebiliyor.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2468880"/>
            <a:ext cx="41148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411480" y="2468880"/>
            <a:ext cx="64008" cy="10972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94360" y="2542032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</a:rPr>
              <a:t>Görüntü Tabanlı Erken Tespit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4360" y="2907792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Kamera sistemleri gerçek zamanlı izleme yapabiliyor — ancak alev rengi sürekli değişir, duman karışır, arka plan gürültü üretir.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2468880"/>
            <a:ext cx="41148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4754880" y="2468880"/>
            <a:ext cx="64008" cy="10972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937760" y="2542032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</a:rPr>
              <a:t>Neden Klasik Yöntem?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37760" y="2907792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GPU gerektiren derin öğrenme kamera donanımlarına sığmaz. Klasik yöntem: şeffaf, açıklanabilir, düşük kaynaklı.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772400" y="489204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4 / 25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164592"/>
            <a:ext cx="1920240" cy="246888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" y="164592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6DA4"/>
                </a:solidFill>
              </a:rPr>
              <a:t>01 · PROBLEM &amp; MOTIVASYON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512064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Görüntü Tabanlı Alev Tespitinin Zorlukları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11480" y="1078992"/>
            <a:ext cx="1463040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46320" y="1188720"/>
            <a:ext cx="3886200" cy="37490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11480" y="1234440"/>
            <a:ext cx="4206240" cy="594360"/>
          </a:xfrm>
          <a:prstGeom prst="rect">
            <a:avLst/>
          </a:prstGeom>
          <a:solidFill>
            <a:srgbClr val="F9EBEA"/>
          </a:solidFill>
          <a:ln w="6350">
            <a:solidFill>
              <a:srgbClr val="E8BFBB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11480" y="1234440"/>
            <a:ext cx="64008" cy="594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594360" y="1271016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</a:rPr>
              <a:t>Renk Değişkenliği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94360" y="1527048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Mor-kırmızıdan açık sarıya sürekli değişen alev tonu — tek eşik yetersiz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11480" y="1947672"/>
            <a:ext cx="4206240" cy="594360"/>
          </a:xfrm>
          <a:prstGeom prst="rect">
            <a:avLst/>
          </a:prstGeom>
          <a:solidFill>
            <a:srgbClr val="F9EBEA"/>
          </a:solidFill>
          <a:ln w="6350">
            <a:solidFill>
              <a:srgbClr val="E8BFBB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411480" y="1947672"/>
            <a:ext cx="64008" cy="594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594360" y="1984248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</a:rPr>
              <a:t>Yanlış Pozitifler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94360" y="2240280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Güneş yansıması, suni ışık, turuncu nesneler benzer renk profili üretiyor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11480" y="2660904"/>
            <a:ext cx="4206240" cy="594360"/>
          </a:xfrm>
          <a:prstGeom prst="rect">
            <a:avLst/>
          </a:prstGeom>
          <a:solidFill>
            <a:srgbClr val="F9EBEA"/>
          </a:solidFill>
          <a:ln w="6350">
            <a:solidFill>
              <a:srgbClr val="E8BFBB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411480" y="2660904"/>
            <a:ext cx="64008" cy="594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2697480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</a:rPr>
              <a:t>Duman Örtüşmesi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94360" y="2953512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Duman pikselleri alevin üzerinde katman oluşturarak spektral imzayı bozuyor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11480" y="3374136"/>
            <a:ext cx="4206240" cy="594360"/>
          </a:xfrm>
          <a:prstGeom prst="rect">
            <a:avLst/>
          </a:prstGeom>
          <a:solidFill>
            <a:srgbClr val="F9EBEA"/>
          </a:solidFill>
          <a:ln w="6350">
            <a:solidFill>
              <a:srgbClr val="E8BFBB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411480" y="3374136"/>
            <a:ext cx="64008" cy="594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594360" y="3410712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</a:rPr>
              <a:t>Gece / Loş Işık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94360" y="3666744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Düşük parlaklıkta renk ve parlaklık eşikleri yetersiz kalıyor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11480" y="4087368"/>
            <a:ext cx="4206240" cy="594360"/>
          </a:xfrm>
          <a:prstGeom prst="rect">
            <a:avLst/>
          </a:prstGeom>
          <a:solidFill>
            <a:srgbClr val="F9EBEA"/>
          </a:solidFill>
          <a:ln w="6350">
            <a:solidFill>
              <a:srgbClr val="E8BFBB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411480" y="4087368"/>
            <a:ext cx="64008" cy="594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594360" y="4123944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</a:rPr>
              <a:t>Perspektif Değişimi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594360" y="4379976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Uzak çekimde alev küçük kalıyor; morfoloji parametreleri tutarsızlaşıyor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411480" y="475488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1B3A5C"/>
                </a:solidFill>
              </a:rPr>
              <a:t>→ Tek bir renk uzayı bu zorlukları aşmak için yetersiz. 5 kanal + oylama gerekli.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772400" y="489204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5 / 25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164592"/>
            <a:ext cx="1920240" cy="246888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" y="164592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6DA4"/>
                </a:solidFill>
              </a:rPr>
              <a:t>01 · PROBLEM &amp; MOTIVASYON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512064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Projenin Gerçek Dünya Bağlamı &amp; Amacı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11480" y="1078992"/>
            <a:ext cx="1463040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11480" y="120700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</a:rPr>
              <a:t>Ölçülebilir Hedefler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609344"/>
            <a:ext cx="201168" cy="201168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11480" y="16093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13232" y="1581912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ML / DL yok — tamamen deterministik pipeline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2276856"/>
            <a:ext cx="201168" cy="201168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11480" y="22768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13232" y="2249424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5 renk kanalını çoğunluk oylamasıyla birleştirme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2944368"/>
            <a:ext cx="201168" cy="201168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11480" y="29443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11480" y="3611880"/>
            <a:ext cx="201168" cy="201168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6118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13232" y="3584448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≥ %80 Ortalama Dice katsayısı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11480" y="4279392"/>
            <a:ext cx="201168" cy="201168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42793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13232" y="4251960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Sistematik parametre optimizasyonu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120640" y="120700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</a:rPr>
              <a:t>Kullanım Senaryoları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120640" y="1609344"/>
            <a:ext cx="36118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212080" y="168249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</a:rPr>
              <a:t>Orman Gözetleme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212080" y="1993392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Kule kameralarından gerçek zamanlı alev koordinatı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120640" y="2615184"/>
            <a:ext cx="36118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212080" y="268833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</a:rPr>
              <a:t>Akıllı Şehir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212080" y="2999232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Sokak kameraları ile anlık yangın tespiti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120640" y="3621024"/>
            <a:ext cx="36118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212080" y="369417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</a:rPr>
              <a:t>Endüstri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212080" y="4005072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Üretim tesislerinde erken alarm</a:t>
            </a:r>
            <a:endParaRPr lang="en-US" sz="1050" dirty="0"/>
          </a:p>
        </p:txBody>
      </p:sp>
      <p:pic>
        <p:nvPicPr>
          <p:cNvPr id="34" name="Picture 33" descr="report_precision_rec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2990088"/>
            <a:ext cx="4334256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489204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6 / 25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164592"/>
            <a:ext cx="1920240" cy="246888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64592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6DA4"/>
                </a:solidFill>
              </a:rPr>
              <a:t>02 · VERI SETI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512064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 Seti: 3 Kaynak, 1.327 Kaliteli Görsel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11480" y="1078992"/>
            <a:ext cx="1463040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207008"/>
            <a:ext cx="2560320" cy="34747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20700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Kaynak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971800" y="1207008"/>
            <a:ext cx="1188720" cy="34747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71800" y="120700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Platform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60520" y="1207008"/>
            <a:ext cx="1188720" cy="34747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60520" y="120700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Çözünürlük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49240" y="1207008"/>
            <a:ext cx="822960" cy="34747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49240" y="120700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Ham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72200" y="1207008"/>
            <a:ext cx="822960" cy="34747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120700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Elenen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995160" y="1207008"/>
            <a:ext cx="1005840" cy="34747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95160" y="120700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Dahil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1554480"/>
            <a:ext cx="25603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1554480"/>
            <a:ext cx="2560320" cy="402336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Fire Detection (inferno-ai)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971800" y="1554480"/>
            <a:ext cx="11887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71800" y="155448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Roboflow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60520" y="1554480"/>
            <a:ext cx="11887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60520" y="155448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640×640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349240" y="1554480"/>
            <a:ext cx="8229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49240" y="1554480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441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72200" y="1554480"/>
            <a:ext cx="8229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72200" y="1554480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71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995160" y="1554480"/>
            <a:ext cx="10058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95160" y="155448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370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11480" y="1956816"/>
            <a:ext cx="2560320" cy="402336"/>
          </a:xfrm>
          <a:prstGeom prst="rect">
            <a:avLst/>
          </a:prstGeom>
          <a:solidFill>
            <a:srgbClr val="F5F8FC"/>
          </a:solidFill>
          <a:ln w="6350">
            <a:solidFill>
              <a:srgbClr val="D1DC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1956816"/>
            <a:ext cx="2560320" cy="402336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Fire Segmentation (firesmokedata)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971800" y="1956816"/>
            <a:ext cx="1188720" cy="402336"/>
          </a:xfrm>
          <a:prstGeom prst="rect">
            <a:avLst/>
          </a:prstGeom>
          <a:solidFill>
            <a:srgbClr val="F5F8FC"/>
          </a:solidFill>
          <a:ln w="6350">
            <a:solidFill>
              <a:srgbClr val="D1DC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971800" y="1956816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Roboflow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160520" y="1956816"/>
            <a:ext cx="1188720" cy="402336"/>
          </a:xfrm>
          <a:prstGeom prst="rect">
            <a:avLst/>
          </a:prstGeom>
          <a:solidFill>
            <a:srgbClr val="F5F8FC"/>
          </a:solidFill>
          <a:ln w="6350">
            <a:solidFill>
              <a:srgbClr val="D1DC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60520" y="1956816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640×640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349240" y="1956816"/>
            <a:ext cx="822960" cy="402336"/>
          </a:xfrm>
          <a:prstGeom prst="rect">
            <a:avLst/>
          </a:prstGeom>
          <a:solidFill>
            <a:srgbClr val="F5F8FC"/>
          </a:solidFill>
          <a:ln w="6350">
            <a:solidFill>
              <a:srgbClr val="D1DC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49240" y="1956816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798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172200" y="1956816"/>
            <a:ext cx="822960" cy="402336"/>
          </a:xfrm>
          <a:prstGeom prst="rect">
            <a:avLst/>
          </a:prstGeom>
          <a:solidFill>
            <a:srgbClr val="F5F8FC"/>
          </a:solidFill>
          <a:ln w="6350">
            <a:solidFill>
              <a:srgbClr val="D1DC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72200" y="1956816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45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995160" y="1956816"/>
            <a:ext cx="1005840" cy="402336"/>
          </a:xfrm>
          <a:prstGeom prst="rect">
            <a:avLst/>
          </a:prstGeom>
          <a:solidFill>
            <a:srgbClr val="F5F8FC"/>
          </a:solidFill>
          <a:ln w="6350">
            <a:solidFill>
              <a:srgbClr val="D1DC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95160" y="195681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753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11480" y="2359152"/>
            <a:ext cx="25603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1480" y="2359152"/>
            <a:ext cx="2560320" cy="402336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Fire &amp; Smoke (gikim)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2971800" y="2359152"/>
            <a:ext cx="11887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971800" y="235915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Roboflow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160520" y="2359152"/>
            <a:ext cx="11887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60520" y="235915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640×640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349240" y="2359152"/>
            <a:ext cx="8229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349240" y="235915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204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172200" y="2359152"/>
            <a:ext cx="8229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172200" y="235915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—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995160" y="2359152"/>
            <a:ext cx="10058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995160" y="235915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204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411480" y="2761488"/>
            <a:ext cx="2560320" cy="402336"/>
          </a:xfrm>
          <a:prstGeom prst="rect">
            <a:avLst/>
          </a:prstGeom>
          <a:solidFill>
            <a:srgbClr val="D6E4F0"/>
          </a:solidFill>
          <a:ln w="6350">
            <a:solidFill>
              <a:srgbClr val="D1DCE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11480" y="2761488"/>
            <a:ext cx="2560320" cy="402336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3A5C"/>
                </a:solidFill>
              </a:rPr>
              <a:t>TOPLAM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2971800" y="2761488"/>
            <a:ext cx="1188720" cy="402336"/>
          </a:xfrm>
          <a:prstGeom prst="rect">
            <a:avLst/>
          </a:prstGeom>
          <a:solidFill>
            <a:srgbClr val="D6E4F0"/>
          </a:solidFill>
          <a:ln w="6350">
            <a:solidFill>
              <a:srgbClr val="D1DCE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971800" y="276148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5C"/>
                </a:solidFill>
              </a:rPr>
              <a:t>—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4160520" y="2761488"/>
            <a:ext cx="1188720" cy="402336"/>
          </a:xfrm>
          <a:prstGeom prst="rect">
            <a:avLst/>
          </a:prstGeom>
          <a:solidFill>
            <a:srgbClr val="D6E4F0"/>
          </a:solidFill>
          <a:ln w="6350">
            <a:solidFill>
              <a:srgbClr val="D1DCE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160520" y="276148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5C"/>
                </a:solidFill>
              </a:rPr>
              <a:t>—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5349240" y="2761488"/>
            <a:ext cx="822960" cy="402336"/>
          </a:xfrm>
          <a:prstGeom prst="rect">
            <a:avLst/>
          </a:prstGeom>
          <a:solidFill>
            <a:srgbClr val="D6E4F0"/>
          </a:solidFill>
          <a:ln w="6350">
            <a:solidFill>
              <a:srgbClr val="D1DCE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349240" y="2761488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5C"/>
                </a:solidFill>
              </a:rPr>
              <a:t>1.443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6172200" y="2761488"/>
            <a:ext cx="822960" cy="402336"/>
          </a:xfrm>
          <a:prstGeom prst="rect">
            <a:avLst/>
          </a:prstGeom>
          <a:solidFill>
            <a:srgbClr val="D6E4F0"/>
          </a:solidFill>
          <a:ln w="6350">
            <a:solidFill>
              <a:srgbClr val="D1DCE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172200" y="2761488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5C"/>
                </a:solidFill>
              </a:rPr>
              <a:t>116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6995160" y="2761488"/>
            <a:ext cx="1005840" cy="402336"/>
          </a:xfrm>
          <a:prstGeom prst="rect">
            <a:avLst/>
          </a:prstGeom>
          <a:solidFill>
            <a:srgbClr val="D6E4F0"/>
          </a:solidFill>
          <a:ln w="6350">
            <a:solidFill>
              <a:srgbClr val="D1DCE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995160" y="2761488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5C"/>
                </a:solidFill>
              </a:rPr>
              <a:t>1.327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411480" y="338328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</a:rPr>
              <a:t>Veri Seti Özellikleri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411480" y="3749040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·  Gece &amp; gündüz sahneleri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3200400" y="3749040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·  Hafiften yoğuna duman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5989320" y="3749040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·  Dış &amp; iç mekan yangınları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411480" y="4206240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·  Farklı kamera mesafesi &amp; açıları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3200400" y="4206240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·  İkili (binary) segmentasyon maskesi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5989320" y="4206240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·  COCO formatı etiketleme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489204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7 / 25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164592"/>
            <a:ext cx="1920240" cy="246888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64592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6DA4"/>
                </a:solidFill>
              </a:rPr>
              <a:t>02 · VERI SETI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512064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 Setinden Örnek Görseller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11480" y="1078992"/>
            <a:ext cx="1463040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1207008"/>
            <a:ext cx="8321040" cy="19202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324612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</a:rPr>
              <a:t>Zorluk Kategorileri (Kolay / Orta / Zor)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11480" y="3566160"/>
            <a:ext cx="832104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489204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8 / 25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164592"/>
            <a:ext cx="1920240" cy="246888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64592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6DA4"/>
                </a:solidFill>
              </a:rPr>
              <a:t>02 · VERI SETI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512064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 Kalite Kontrolü &amp; Maske Düzeltme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11480" y="1078992"/>
            <a:ext cx="1463040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234440"/>
            <a:ext cx="347472" cy="347472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234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59536" y="123444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</a:rPr>
              <a:t>Boş Maske Filtresi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59536" y="1618488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Anlamsız alev pikseli içermeyen 71 görsel veri setinden çıkarıldı.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0644" y="1581912"/>
            <a:ext cx="0" cy="749808"/>
          </a:xfrm>
          <a:prstGeom prst="line">
            <a:avLst/>
          </a:prstGeom>
          <a:noFill/>
          <a:ln w="12700">
            <a:solidFill>
              <a:srgbClr val="1A7A4A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411480" y="2331720"/>
            <a:ext cx="347472" cy="347472"/>
          </a:xfrm>
          <a:prstGeom prst="ellipse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331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59536" y="233172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</a:rPr>
              <a:t>SAM Yeniden Etiketleme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59536" y="2715768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Hatalı ground truth maskeler Meta AI Segment Anything ile manuel düzeltildi.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80644" y="2679192"/>
            <a:ext cx="0" cy="749808"/>
          </a:xfrm>
          <a:prstGeom prst="line">
            <a:avLst/>
          </a:prstGeom>
          <a:noFill/>
          <a:ln w="12700">
            <a:solidFill>
              <a:srgbClr val="2E6DA4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411480" y="3429000"/>
            <a:ext cx="347472" cy="34747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429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59536" y="342900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</a:rPr>
              <a:t>Kalite Filtresi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59536" y="3813048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Alev sınırlarıyla örtüşmeyen 45 maske temizlendi, IoU güvenilirliği sağlandı.</a:t>
            </a:r>
            <a:endParaRPr lang="en-US" sz="11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06440" y="1188720"/>
            <a:ext cx="2926080" cy="365760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411480" y="457200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1B3A5C"/>
                </a:solidFill>
              </a:rPr>
              <a:t>💡 Ders: Veri kalitesi = model kalitesi. Hatalı etiket → yanlış IoU skoru.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489204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9 / 25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164592"/>
            <a:ext cx="1920240" cy="246888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64592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6DA4"/>
                </a:solidFill>
              </a:rPr>
              <a:t>03 · YÖNTEM / PIPELINE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512064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14-Adımlı Deterministik Pipeline — Genel Bakış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11480" y="1078992"/>
            <a:ext cx="1463040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1207008"/>
            <a:ext cx="8321040" cy="24688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11480" y="3840480"/>
            <a:ext cx="2011680" cy="475488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" y="384048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Ön İşleme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Adım 1–3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560320" y="3840480"/>
            <a:ext cx="2011680" cy="47548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560320" y="384048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Renk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Maskeleme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Adım 4–8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709160" y="3840480"/>
            <a:ext cx="2011680" cy="4754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09160" y="384048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Çoğunluk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Oylaması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Adım 9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858000" y="3840480"/>
            <a:ext cx="2011680" cy="47548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58000" y="384048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Morfoloji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&amp; Filtre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Adım 10–14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11480" y="44348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Girdi → Ham RGB Görüntü (640×640)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572000" y="4434840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Çıktı → İkili Segmentasyon Maskesi (0/255)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489204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10 / 25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164592"/>
            <a:ext cx="1920240" cy="246888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64592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6DA4"/>
                </a:solidFill>
              </a:rPr>
              <a:t>03 · YÖNTEM / PIPELINE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512064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Adım 1–3: Ön İşleme — Neden?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11480" y="1078992"/>
            <a:ext cx="1463040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1207008"/>
            <a:ext cx="8321040" cy="18288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11480" y="3172968"/>
            <a:ext cx="256032" cy="256032"/>
          </a:xfrm>
          <a:prstGeom prst="ellipse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" y="31729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58952" y="312724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</a:rPr>
              <a:t>Gauss Filtrelemesi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834640" y="3127248"/>
            <a:ext cx="3931920" cy="320040"/>
          </a:xfrm>
          <a:prstGeom prst="rect">
            <a:avLst/>
          </a:prstGeom>
          <a:solidFill>
            <a:srgbClr val="EBF0F5"/>
          </a:solidFill>
          <a:ln w="6350">
            <a:solidFill>
              <a:srgbClr val="C5D2D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907792" y="3127248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cv2.GaussianBlur(img,(5,5),sigmaX=1.0)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858000" y="3127248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</a:rPr>
              <a:t>JPEG sıkıştırma gürültüsü renk eşiklemede yanlış pozitife neden oluyor. 5×5 çekirdek gürültüyü bastırırken alev kenarlarını korur. 3×3 yetersiz, 7×7+ kenarları siler.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411480" y="3749040"/>
            <a:ext cx="256032" cy="256032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11480" y="37490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58952" y="370332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</a:rPr>
              <a:t>Bilateral Filtreleme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2834640" y="3703320"/>
            <a:ext cx="3931920" cy="320040"/>
          </a:xfrm>
          <a:prstGeom prst="rect">
            <a:avLst/>
          </a:prstGeom>
          <a:solidFill>
            <a:srgbClr val="EBF0F5"/>
          </a:solidFill>
          <a:ln w="6350">
            <a:solidFill>
              <a:srgbClr val="C5D2D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907792" y="370332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cv2.bilateralFilter(img,d=9,sigmaColor=80,sigmaSpace=80)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6858000" y="370332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</a:rPr>
              <a:t>Gauss filtresi kenarları da yumuşatır. Bilateral: benzer parlaklıktaki komşuları birleştirir, alev sınırı keskinliğini korur.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411480" y="4325112"/>
            <a:ext cx="256032" cy="256032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11480" y="43251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758952" y="427939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</a:rPr>
              <a:t>CLAHE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2834640" y="4279392"/>
            <a:ext cx="3931920" cy="320040"/>
          </a:xfrm>
          <a:prstGeom prst="rect">
            <a:avLst/>
          </a:prstGeom>
          <a:solidFill>
            <a:srgbClr val="EBF0F5"/>
          </a:solidFill>
          <a:ln w="6350">
            <a:solidFill>
              <a:srgbClr val="C5D2D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907792" y="4279392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clahe=cv2.createCLAHE(clipLimit=2.5,tileGridSize=(8,8))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6858000" y="4279392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</a:rPr>
              <a:t>Gece/loş sahnelerde alev-arka plan parlaklık farkı azalır. Yalnızca L kanalında yerel kontrast artırımı; renk bilgisi değişmez.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489204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11 / 25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164592"/>
            <a:ext cx="1920240" cy="246888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64592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6DA4"/>
                </a:solidFill>
              </a:rPr>
              <a:t>03 · YÖNTEM / PIPELINE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512064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Adım 4–8: 5 Kanallı Renk Maskeleme — Neden Her Kanal?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11480" y="1078992"/>
            <a:ext cx="1463040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1207008"/>
            <a:ext cx="8321040" cy="24688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11480" y="3794760"/>
            <a:ext cx="1572768" cy="3657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" y="379476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 · HSV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11480" y="4178808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H∈[0°,35°]∪[145°,180°] | S≥100, V≥120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411480" y="4562856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B7280"/>
                </a:solidFill>
              </a:rPr>
              <a:t>Sarı→kırmızı alev tonu + kırmızımsı çekirdek en doğal temsil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2075688" y="3794760"/>
            <a:ext cx="1572768" cy="3657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075688" y="379476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 · YCrCb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2075688" y="4178808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Cr&gt;150, Cb&lt;140, Y&gt;50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2075688" y="4562856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B7280"/>
                </a:solidFill>
              </a:rPr>
              <a:t>Gece &amp; yapay ışıkta HSV'nin başarısız olduğu yerde etkili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3739896" y="3794760"/>
            <a:ext cx="1572768" cy="36576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739896" y="379476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6 · RGB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3739896" y="4178808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R&gt;150, R&gt;G≥B, R−B&gt;40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3739896" y="4562856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B7280"/>
                </a:solidFill>
              </a:rPr>
              <a:t>Aydınlatmadan bağımsız oransal karşılaştırma; gri nesneleri filtreler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5404104" y="3794760"/>
            <a:ext cx="1572768" cy="3657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404104" y="379476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7 · LAB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404104" y="4178808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L&gt;80, A&gt;135, B&gt;130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5404104" y="4562856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B7280"/>
                </a:solidFill>
              </a:rPr>
              <a:t>Soluk/uzak alevleri yakalar; insan görsel algısını modeller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7068312" y="3794760"/>
            <a:ext cx="1572768" cy="36576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068312" y="379476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8 · Parlaklık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7068312" y="4178808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R&gt;200, G&gt;150, B&lt;180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7068312" y="4562856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B7280"/>
                </a:solidFill>
              </a:rPr>
              <a:t>Alev çekirdeğinin yüksek parlaklığını hedefler; gökyüzünü filtreler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489204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12 / 25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164592"/>
            <a:ext cx="1920240" cy="246888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64592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6DA4"/>
                </a:solidFill>
              </a:rPr>
              <a:t>03 · YÖNTEM / PIPELINE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512064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Kanal Maskesi — Farklı Görüntülerde Karşılaştırma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11480" y="1078992"/>
            <a:ext cx="1463040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1207008"/>
            <a:ext cx="8321040" cy="35661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4846320"/>
            <a:ext cx="8321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80"/>
                </a:solidFill>
              </a:rPr>
              <a:t>Her satır = farklı görüntü  ·  Her sütun = farklı renk uzayı  ·  Kanallar birbirini tamamlıyor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489204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13 / 25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164592"/>
            <a:ext cx="1920240" cy="246888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64592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6DA4"/>
                </a:solidFill>
              </a:rPr>
              <a:t>03 · YÖNTEM / PIPELINE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512064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Adım 9: Çoğunluk Oylaması — Neden?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11480" y="1078992"/>
            <a:ext cx="1463040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207008"/>
            <a:ext cx="8321040" cy="658368"/>
          </a:xfrm>
          <a:prstGeom prst="rect">
            <a:avLst/>
          </a:prstGeom>
          <a:solidFill>
            <a:srgbClr val="D6E4F0"/>
          </a:solidFill>
          <a:ln w="10160">
            <a:solidFill>
              <a:srgbClr val="2E6DA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207008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Alev(x,y) = 1   eğer   Σᵢ maskᵢ(x,y) ≥ VOTE_THR × 255     (i = 1 … 5)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1480" y="1993392"/>
            <a:ext cx="42062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206654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</a:rPr>
              <a:t>Neden Oylama?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24231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• Tek kanallı sistemde o kanalın başarısız olduğu sahnede tüm segmentasyon çöker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94360" y="271576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• Oylama: kanalların birbirinden bağımsız hata yapması varsayımını kullanır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94360" y="300837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• Herhangi bir kanalın hatası nihai maskeyi bozmaz — gürbüzlük artar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00600" y="1993392"/>
            <a:ext cx="39319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37760" y="206654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</a:rPr>
              <a:t>Eşik Seçimi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937760" y="2423160"/>
            <a:ext cx="640080" cy="2743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24231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VOTE_THR = 2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650992" y="242316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Düşük eşik: yüksek recall, yüksek FP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937760" y="2752344"/>
            <a:ext cx="640080" cy="27432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275234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VOTE_THR = 3 ✓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650992" y="2752344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Optimal denge: IoU %73,8 / Dice %83,9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937760" y="3081528"/>
            <a:ext cx="640080" cy="274320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30815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VOTE_THR = 4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5650992" y="3081528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Yüksek hassasiyet, yüksek FN</a:t>
            </a:r>
            <a:endParaRPr lang="en-US" sz="950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3566160"/>
            <a:ext cx="8321040" cy="14173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489204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14 / 25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164592"/>
            <a:ext cx="1920240" cy="246888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64592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6DA4"/>
                </a:solidFill>
              </a:rPr>
              <a:t>03 · YÖNTEM / PIPELINE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512064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Adım 10–14: Morfolojik Son İşleme — Neden?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11480" y="1078992"/>
            <a:ext cx="1463040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1207008"/>
            <a:ext cx="8321040" cy="15544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11480" y="2916936"/>
            <a:ext cx="237744" cy="237744"/>
          </a:xfrm>
          <a:prstGeom prst="ellipse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" y="29169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10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49808" y="28803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A5C"/>
                </a:solidFill>
              </a:rPr>
              <a:t>Morfolojik Açma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852928" y="2880360"/>
            <a:ext cx="3657600" cy="320040"/>
          </a:xfrm>
          <a:prstGeom prst="rect">
            <a:avLst/>
          </a:prstGeom>
          <a:solidFill>
            <a:srgbClr val="EBF0F5"/>
          </a:solidFill>
          <a:ln w="6350">
            <a:solidFill>
              <a:srgbClr val="C5D2D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926080" y="288036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cv2.morphologyEx(mask, cv2.MORPH_OPEN, kernel9x9)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6601968" y="2880360"/>
            <a:ext cx="21305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280"/>
                </a:solidFill>
              </a:rPr>
              <a:t>9×9 elips çekirdek: yalıtılmış FP pikselleri &amp; küçük gürültü bölgeleri temizlenir.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411480" y="3346704"/>
            <a:ext cx="237744" cy="237744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11480" y="334670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11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749808" y="331012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A5C"/>
                </a:solidFill>
              </a:rPr>
              <a:t>Morfolojik Kapama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2852928" y="3310128"/>
            <a:ext cx="3657600" cy="320040"/>
          </a:xfrm>
          <a:prstGeom prst="rect">
            <a:avLst/>
          </a:prstGeom>
          <a:solidFill>
            <a:srgbClr val="EBF0F5"/>
          </a:solidFill>
          <a:ln w="6350">
            <a:solidFill>
              <a:srgbClr val="C5D2D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926080" y="3310128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cv2.morphologyEx(mask, cv2.MORPH_CLOSE, kernel9x9, iterations=3)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6601968" y="3310128"/>
            <a:ext cx="21305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280"/>
                </a:solidFill>
              </a:rPr>
              <a:t>Dumanlı alanlardaki iç boşlukları kapatır, maske homojenliği artar.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411480" y="3776472"/>
            <a:ext cx="237744" cy="237744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11480" y="37764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12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749808" y="373989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A5C"/>
                </a:solidFill>
              </a:rPr>
              <a:t>Delik Doldurma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2852928" y="3739896"/>
            <a:ext cx="3657600" cy="320040"/>
          </a:xfrm>
          <a:prstGeom prst="rect">
            <a:avLst/>
          </a:prstGeom>
          <a:solidFill>
            <a:srgbClr val="EBF0F5"/>
          </a:solidFill>
          <a:ln w="6350">
            <a:solidFill>
              <a:srgbClr val="C5D2D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926080" y="3739896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scipy.ndimage.binary_fill_holes(mask)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6601968" y="3739896"/>
            <a:ext cx="21305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280"/>
                </a:solidFill>
              </a:rPr>
              <a:t>Kapalı kontur içindeki boş pikselleri deterministik doldurur → FN azalır, IoU yükselir.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411480" y="4206240"/>
            <a:ext cx="237744" cy="237744"/>
          </a:xfrm>
          <a:prstGeom prst="ellipse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11480" y="42062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13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749808" y="416966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A5C"/>
                </a:solidFill>
              </a:rPr>
              <a:t>Dilatasyon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2852928" y="4169664"/>
            <a:ext cx="3657600" cy="320040"/>
          </a:xfrm>
          <a:prstGeom prst="rect">
            <a:avLst/>
          </a:prstGeom>
          <a:solidFill>
            <a:srgbClr val="EBF0F5"/>
          </a:solidFill>
          <a:ln w="6350">
            <a:solidFill>
              <a:srgbClr val="C5D2D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926080" y="4169664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cv2.dilate(mask, kernel5x5, iterations=1)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6601968" y="4169664"/>
            <a:ext cx="21305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280"/>
                </a:solidFill>
              </a:rPr>
              <a:t>Eşik altındaki sınır piksellerini maskeye dahil eder; GT örtüşmesi artar.</a:t>
            </a:r>
            <a:endParaRPr lang="en-US" sz="750" dirty="0"/>
          </a:p>
        </p:txBody>
      </p:sp>
      <p:sp>
        <p:nvSpPr>
          <p:cNvPr id="33" name="Shape 30"/>
          <p:cNvSpPr/>
          <p:nvPr/>
        </p:nvSpPr>
        <p:spPr>
          <a:xfrm>
            <a:off x="411480" y="4636008"/>
            <a:ext cx="237744" cy="23774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11480" y="46360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14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749808" y="459943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A5C"/>
                </a:solidFill>
              </a:rPr>
              <a:t>Kontur Filtresi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2852928" y="4599432"/>
            <a:ext cx="3657600" cy="320040"/>
          </a:xfrm>
          <a:prstGeom prst="rect">
            <a:avLst/>
          </a:prstGeom>
          <a:solidFill>
            <a:srgbClr val="EBF0F5"/>
          </a:solidFill>
          <a:ln w="6350">
            <a:solidFill>
              <a:srgbClr val="C5D2DF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2926080" y="459943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contourArea &lt; 200: remove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6601968" y="4599432"/>
            <a:ext cx="21305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280"/>
                </a:solidFill>
              </a:rPr>
              <a:t>200 px² altındaki parçacıklar gürültüdür — alev bölgelerine zarar vermeden elenir.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489204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15 / 25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164592"/>
            <a:ext cx="1920240" cy="246888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64592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6DA4"/>
                </a:solidFill>
              </a:rPr>
              <a:t>04 · DENEYSEL SONUÇLAR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512064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Değerlendirme Metrikleri — IoU &amp; Dice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11480" y="1078992"/>
            <a:ext cx="1463040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207008"/>
            <a:ext cx="40233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207008"/>
            <a:ext cx="64008" cy="141732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280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</a:rPr>
              <a:t>IoU — Jaccard İndeksi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166420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6D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IoU = |Tahmin ∩ GT| / |Tahmin ∪ GT|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205740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Cezalandırıcı yapısı ile daha katı ölçüt. Yanlış sınıflandırılan pikseller hem pay hem payda etkiler.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207008"/>
            <a:ext cx="40690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1207008"/>
            <a:ext cx="64008" cy="141732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2801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</a:rPr>
              <a:t>Dice Katsayısı — F1 Skoru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16642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7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Dice = 2×|Tahmin∩GT| / (|Tahmin|+|GT|)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20574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Hassasiyet (Precision) ve Geri çağırma (Recall) harmonik ortalaması. Kısmi örtüşmelere daha hassas.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" y="278892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</a:rPr>
              <a:t>Hata Haritası Renk Kodu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11480" y="3154680"/>
            <a:ext cx="4023360" cy="512064"/>
          </a:xfrm>
          <a:prstGeom prst="rect">
            <a:avLst/>
          </a:prstGeom>
          <a:solidFill>
            <a:srgbClr val="D5F0E3"/>
          </a:solidFill>
          <a:ln w="6350">
            <a:solidFill>
              <a:srgbClr val="1A7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1546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A4A"/>
                </a:solidFill>
              </a:rPr>
              <a:t>TP — Doğru Pozitif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341071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7A4A"/>
                </a:solidFill>
              </a:rPr>
              <a:t>Hem GT hem Tahmin = Alev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17720" y="3154680"/>
            <a:ext cx="4023360" cy="512064"/>
          </a:xfrm>
          <a:prstGeom prst="rect">
            <a:avLst/>
          </a:prstGeom>
          <a:solidFill>
            <a:srgbClr val="FAE5D3"/>
          </a:solidFill>
          <a:ln w="6350">
            <a:solidFill>
              <a:srgbClr val="E67E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31546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</a:rPr>
              <a:t>FP — Yanlış Pozitif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09160" y="341071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7E22"/>
                </a:solidFill>
              </a:rPr>
              <a:t>Tahmin=Alev, GT=Arka Plan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11480" y="3749040"/>
            <a:ext cx="4023360" cy="512064"/>
          </a:xfrm>
          <a:prstGeom prst="rect">
            <a:avLst/>
          </a:prstGeom>
          <a:solidFill>
            <a:srgbClr val="D6EAF8"/>
          </a:solidFill>
          <a:ln w="6350">
            <a:solidFill>
              <a:srgbClr val="2E86C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7490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6C1"/>
                </a:solidFill>
              </a:rPr>
              <a:t>FN — Yanlış Negatif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" y="400507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86C1"/>
                </a:solidFill>
              </a:rPr>
              <a:t>GT=Alev, Tahmin=Arka Plan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17720" y="3749040"/>
            <a:ext cx="4023360" cy="512064"/>
          </a:xfrm>
          <a:prstGeom prst="rect">
            <a:avLst/>
          </a:prstGeom>
          <a:solidFill>
            <a:srgbClr val="F2F3F4"/>
          </a:solidFill>
          <a:ln w="6350">
            <a:solidFill>
              <a:srgbClr val="6B72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37490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</a:rPr>
              <a:t>TN — Doğru Negatif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09160" y="400507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Her ikisi de = Arka Plan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489204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16 / 25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164592"/>
            <a:ext cx="1920240" cy="246888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64592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6DA4"/>
                </a:solidFill>
              </a:rPr>
              <a:t>04 · DENEYSEL SONUÇLAR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512064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Genel Performans Sonuçları (N = 1.327)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11480" y="1078992"/>
            <a:ext cx="1463040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207008"/>
            <a:ext cx="20116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1207008"/>
            <a:ext cx="2011680" cy="9144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316736"/>
            <a:ext cx="2011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6D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%73,8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11480" y="195681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4151"/>
                </a:solidFill>
              </a:rPr>
              <a:t>Ortalama IoU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22860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</a:rPr>
              <a:t>Hedef: ≥ %70  ✓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560320" y="1207008"/>
            <a:ext cx="20116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0" y="1207008"/>
            <a:ext cx="2011680" cy="9144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0" y="1316736"/>
            <a:ext cx="2011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7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%83,9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2560320" y="195681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4151"/>
                </a:solidFill>
              </a:rPr>
              <a:t>Ortalama Dice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60320" y="22860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</a:rPr>
              <a:t>Hedef: ≥ %80  ✓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09160" y="1207008"/>
            <a:ext cx="20116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1207008"/>
            <a:ext cx="2011680" cy="914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1316736"/>
            <a:ext cx="2011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%96,5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4709160" y="195681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4151"/>
                </a:solidFill>
              </a:rPr>
              <a:t>Maks. IoU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09160" y="22860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</a:rPr>
              <a:t>En iyi tek görsel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858000" y="1207008"/>
            <a:ext cx="20116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58000" y="1207008"/>
            <a:ext cx="2011680" cy="91440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0" y="1316736"/>
            <a:ext cx="2011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7D3C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%78,0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6858000" y="195681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4151"/>
                </a:solidFill>
              </a:rPr>
              <a:t>Medyan IoU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58000" y="22860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</a:rPr>
              <a:t>Medyan &gt; Ort.</a:t>
            </a:r>
            <a:endParaRPr lang="en-US" sz="950" dirty="0"/>
          </a:p>
        </p:txBody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2788920"/>
            <a:ext cx="5120640" cy="2286000"/>
          </a:xfrm>
          <a:prstGeom prst="rect">
            <a:avLst/>
          </a:prstGeom>
        </p:spPr>
      </p:pic>
      <p:sp>
        <p:nvSpPr>
          <p:cNvPr id="29" name="Shape 26"/>
          <p:cNvSpPr/>
          <p:nvPr/>
        </p:nvSpPr>
        <p:spPr>
          <a:xfrm>
            <a:off x="5715000" y="2788920"/>
            <a:ext cx="1371600" cy="329184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715000" y="27889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Metrik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7086600" y="2788920"/>
            <a:ext cx="1143000" cy="329184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086600" y="2788920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Sayı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8229600" y="2788920"/>
            <a:ext cx="868680" cy="329184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229600" y="278892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Oran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715000" y="3118104"/>
            <a:ext cx="1371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715000" y="311810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IoU ≥ %80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7086600" y="3118104"/>
            <a:ext cx="1143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086600" y="3118104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551 / 1327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8229600" y="3118104"/>
            <a:ext cx="868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229600" y="3118104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%41,5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5715000" y="3502152"/>
            <a:ext cx="1371600" cy="384048"/>
          </a:xfrm>
          <a:prstGeom prst="rect">
            <a:avLst/>
          </a:prstGeom>
          <a:solidFill>
            <a:srgbClr val="F5F8FC"/>
          </a:solidFill>
          <a:ln w="6350">
            <a:solidFill>
              <a:srgbClr val="D1DCE8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715000" y="350215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IoU ≥ %70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7086600" y="3502152"/>
            <a:ext cx="1143000" cy="384048"/>
          </a:xfrm>
          <a:prstGeom prst="rect">
            <a:avLst/>
          </a:prstGeom>
          <a:solidFill>
            <a:srgbClr val="F5F8FC"/>
          </a:solidFill>
          <a:ln w="6350">
            <a:solidFill>
              <a:srgbClr val="D1DCE8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086600" y="3502152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734 / 1327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8229600" y="3502152"/>
            <a:ext cx="868680" cy="384048"/>
          </a:xfrm>
          <a:prstGeom prst="rect">
            <a:avLst/>
          </a:prstGeom>
          <a:solidFill>
            <a:srgbClr val="F5F8FC"/>
          </a:solidFill>
          <a:ln w="6350">
            <a:solidFill>
              <a:srgbClr val="D1DCE8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8229600" y="3502152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%55,3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5715000" y="3886200"/>
            <a:ext cx="1371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5715000" y="38862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IoU ≥ %50</a:t>
            </a:r>
            <a:endParaRPr lang="en-US" sz="950" dirty="0"/>
          </a:p>
        </p:txBody>
      </p:sp>
      <p:sp>
        <p:nvSpPr>
          <p:cNvPr id="49" name="Shape 46"/>
          <p:cNvSpPr/>
          <p:nvPr/>
        </p:nvSpPr>
        <p:spPr>
          <a:xfrm>
            <a:off x="7086600" y="3886200"/>
            <a:ext cx="1143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7086600" y="388620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1021 / 1327</a:t>
            </a:r>
            <a:endParaRPr lang="en-US" sz="950" dirty="0"/>
          </a:p>
        </p:txBody>
      </p:sp>
      <p:sp>
        <p:nvSpPr>
          <p:cNvPr id="51" name="Shape 48"/>
          <p:cNvSpPr/>
          <p:nvPr/>
        </p:nvSpPr>
        <p:spPr>
          <a:xfrm>
            <a:off x="8229600" y="3886200"/>
            <a:ext cx="868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8229600" y="3886200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%76,9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5715000" y="4270248"/>
            <a:ext cx="1371600" cy="384048"/>
          </a:xfrm>
          <a:prstGeom prst="rect">
            <a:avLst/>
          </a:prstGeom>
          <a:solidFill>
            <a:srgbClr val="F5F8FC"/>
          </a:solidFill>
          <a:ln w="6350">
            <a:solidFill>
              <a:srgbClr val="D1DCE8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5715000" y="427024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IoU &lt; %50</a:t>
            </a:r>
            <a:endParaRPr lang="en-US" sz="950" dirty="0"/>
          </a:p>
        </p:txBody>
      </p:sp>
      <p:sp>
        <p:nvSpPr>
          <p:cNvPr id="55" name="Shape 52"/>
          <p:cNvSpPr/>
          <p:nvPr/>
        </p:nvSpPr>
        <p:spPr>
          <a:xfrm>
            <a:off x="7086600" y="4270248"/>
            <a:ext cx="1143000" cy="384048"/>
          </a:xfrm>
          <a:prstGeom prst="rect">
            <a:avLst/>
          </a:prstGeom>
          <a:solidFill>
            <a:srgbClr val="F5F8FC"/>
          </a:solidFill>
          <a:ln w="6350">
            <a:solidFill>
              <a:srgbClr val="D1DCE8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7086600" y="4270248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112 / 1327</a:t>
            </a:r>
            <a:endParaRPr lang="en-US" sz="950" dirty="0"/>
          </a:p>
        </p:txBody>
      </p:sp>
      <p:sp>
        <p:nvSpPr>
          <p:cNvPr id="57" name="Shape 54"/>
          <p:cNvSpPr/>
          <p:nvPr/>
        </p:nvSpPr>
        <p:spPr>
          <a:xfrm>
            <a:off x="8229600" y="4270248"/>
            <a:ext cx="868680" cy="384048"/>
          </a:xfrm>
          <a:prstGeom prst="rect">
            <a:avLst/>
          </a:prstGeom>
          <a:solidFill>
            <a:srgbClr val="F5F8FC"/>
          </a:solidFill>
          <a:ln w="6350">
            <a:solidFill>
              <a:srgbClr val="D1DCE8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8229600" y="4270248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%8,4</a:t>
            </a:r>
            <a:endParaRPr lang="en-US" sz="950" dirty="0"/>
          </a:p>
        </p:txBody>
      </p:sp>
      <p:sp>
        <p:nvSpPr>
          <p:cNvPr id="59" name="Text 56"/>
          <p:cNvSpPr/>
          <p:nvPr/>
        </p:nvSpPr>
        <p:spPr>
          <a:xfrm>
            <a:off x="411480" y="513892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Medyan (%78) &gt; Ortalama (%73,8): az sayıda düşük-IoU görüntü ortalamayi aşağı çekiyor.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489204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17 / 25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164592"/>
            <a:ext cx="1920240" cy="246888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64592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6DA4"/>
                </a:solidFill>
              </a:rPr>
              <a:t>04 · DENEYSEL SONUÇLAR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512064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İyi Segmentasyon Sonuçları (IoU &gt; 0.94)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11480" y="1078992"/>
            <a:ext cx="1463040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1207008"/>
            <a:ext cx="8321040" cy="32918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461772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Ortak özellikler: Koyu / nötr arka plan   ·   Geniş alev alanı   ·   Minimal duman karışımı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11480" y="4919472"/>
            <a:ext cx="8321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🟢 TP — Doğru Pozitif     🟠 FP — Yanlış Pozitif     🔵 FN — Yanlış Negatif     ⬛ TN — Doğru Negatif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489204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18 / 25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164592"/>
            <a:ext cx="1920240" cy="246888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64592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6DA4"/>
                </a:solidFill>
              </a:rPr>
              <a:t>04 · DENEYSEL SONUÇLAR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512064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Zorlayıcı Sahneler (IoU &lt; 0.50) — Hata Analizi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11480" y="1078992"/>
            <a:ext cx="1463040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1207008"/>
            <a:ext cx="8321040" cy="30175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11480" y="4370832"/>
            <a:ext cx="40233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21208" y="4407408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</a:rPr>
              <a:t>FP  Yüksek FP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21208" y="4663440"/>
            <a:ext cx="38221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Duman &amp; güneş yansıması alev rengiyle örtüşüyor → geniş yanlış pozitif bölgeler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617720" y="4370832"/>
            <a:ext cx="40233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27448" y="4407408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</a:rPr>
              <a:t>FN  Yüksek FN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727448" y="4663440"/>
            <a:ext cx="38221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Loş/uzak alevde piksel yoğunluğu düşük → eşikler kaçırıyor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489204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19 / 25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164592"/>
            <a:ext cx="1920240" cy="246888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64592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6DA4"/>
                </a:solidFill>
              </a:rPr>
              <a:t>04 · DENEYSEL SONUÇLAR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512064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 Pipeline: Giriş → Adımlar → Çıktı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11480" y="1078992"/>
            <a:ext cx="1463040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97280" y="1207008"/>
            <a:ext cx="6949440" cy="3703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4983480"/>
            <a:ext cx="8321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Orijinal  →  Ground Truth  →  Tahmin Maskesi  →  Hata Haritası (6 farklı görsel)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489204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20 / 25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164592"/>
            <a:ext cx="1920240" cy="246888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64592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6DA4"/>
                </a:solidFill>
              </a:rPr>
              <a:t>05 · PARAMETRE ANALIZI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512064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Parametre 1: Oylama Eşiği (VOTE_THR) Analizi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11480" y="1078992"/>
            <a:ext cx="1463040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1207008"/>
            <a:ext cx="5029200" cy="32918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623560" y="1207008"/>
            <a:ext cx="310896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760720" y="129844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</a:rPr>
              <a:t>Karşılaştırma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760720" y="1719072"/>
            <a:ext cx="2834640" cy="777240"/>
          </a:xfrm>
          <a:prstGeom prst="rect">
            <a:avLst/>
          </a:prstGeom>
          <a:solidFill>
            <a:srgbClr val="FAE5D3"/>
          </a:solidFill>
          <a:ln w="6350">
            <a:solidFill>
              <a:srgbClr val="E67E2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70448" y="1755648"/>
            <a:ext cx="2615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</a:rPr>
              <a:t>VOTE_THR = 2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870448" y="2011680"/>
            <a:ext cx="2615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7E22"/>
                </a:solidFill>
              </a:rPr>
              <a:t>IoU %68,4 / Dice %79,2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870448" y="2231136"/>
            <a:ext cx="2615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7E22"/>
                </a:solidFill>
              </a:rPr>
              <a:t>Yüksek FP → gürültülü maske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760720" y="2615184"/>
            <a:ext cx="2834640" cy="777240"/>
          </a:xfrm>
          <a:prstGeom prst="rect">
            <a:avLst/>
          </a:prstGeom>
          <a:solidFill>
            <a:srgbClr val="D5F0E3"/>
          </a:solidFill>
          <a:ln w="6350">
            <a:solidFill>
              <a:srgbClr val="1A7A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70448" y="2651760"/>
            <a:ext cx="2615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A4A"/>
                </a:solidFill>
              </a:rPr>
              <a:t>VOTE_THR = 3 ✓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870448" y="2907792"/>
            <a:ext cx="2615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7A4A"/>
                </a:solidFill>
              </a:rPr>
              <a:t>IoU %73,8 / Dice %83,9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870448" y="3127248"/>
            <a:ext cx="2615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7A4A"/>
                </a:solidFill>
              </a:rPr>
              <a:t>Optimal denge — seçilen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760720" y="3511296"/>
            <a:ext cx="2834640" cy="777240"/>
          </a:xfrm>
          <a:prstGeom prst="rect">
            <a:avLst/>
          </a:prstGeom>
          <a:solidFill>
            <a:srgbClr val="F2F3F4"/>
          </a:solidFill>
          <a:ln w="6350">
            <a:solidFill>
              <a:srgbClr val="7F8C8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870448" y="3547872"/>
            <a:ext cx="2615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8C8D"/>
                </a:solidFill>
              </a:rPr>
              <a:t>VOTE_THR = 4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870448" y="3803904"/>
            <a:ext cx="2615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F8C8D"/>
                </a:solidFill>
              </a:rPr>
              <a:t>IoU %69,1 / Dice %80,1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870448" y="4023360"/>
            <a:ext cx="2615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</a:rPr>
              <a:t>Yüksek FN → piksel kaybı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411480" y="4590288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Görsel kanıt: THR=2 fazla kapsıyor, THR=4 kaçırıyor, THR=3 en iyi Ground Truth örtüşmesini veriyor.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489204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21 / 25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164592"/>
            <a:ext cx="1920240" cy="246888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64592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6DA4"/>
                </a:solidFill>
              </a:rPr>
              <a:t>05 · PARAMETRE ANALIZI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512064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Parametre 1: VOTE_THR — Sayısal &amp; Görsel Kanıt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11480" y="1078992"/>
            <a:ext cx="1463040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1207008"/>
            <a:ext cx="5029200" cy="35204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623560" y="1207008"/>
            <a:ext cx="310896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760720" y="129844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</a:rPr>
              <a:t>Neden THR = 3 seçildi?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760720" y="1755648"/>
            <a:ext cx="182880" cy="182880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53328" y="1719072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Her iki metrikte (IoU + Dice) en yüksek değer 3/5 eşiğinde elde edildi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760720" y="2258568"/>
            <a:ext cx="182880" cy="182880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221992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1.327 görsel üzerinde sistematik deneysel analiz yapıldı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760720" y="2761488"/>
            <a:ext cx="182880" cy="182880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53328" y="2724912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Precision-Recall dengesi: ne çok gevşek (FP) ne çok sıkı (FN)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760720" y="3264408"/>
            <a:ext cx="182880" cy="182880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053328" y="3227832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3/5 kural: kanalların bağımsız hata yapması varsayımını matematiksel olarak doğruluyor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760720" y="3767328"/>
            <a:ext cx="182880" cy="182880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53328" y="3730752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Literatürde majority voting genellikle N/2 + 1 = 3/5 önerilir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489204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22 / 25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164592"/>
            <a:ext cx="1920240" cy="246888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64592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6DA4"/>
                </a:solidFill>
              </a:rPr>
              <a:t>05 · PARAMETRE ANALIZI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512064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Parametre 2: Morfoloji Çekirdeği (K_SIZE) Analizi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11480" y="1078992"/>
            <a:ext cx="1463040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1207008"/>
            <a:ext cx="5486400" cy="35204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080760" y="1207008"/>
            <a:ext cx="265176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0" y="129844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</a:rPr>
              <a:t>Karşılaştırma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17920" y="1755648"/>
            <a:ext cx="2377440" cy="320040"/>
          </a:xfrm>
          <a:prstGeom prst="rect">
            <a:avLst/>
          </a:prstGeom>
          <a:solidFill>
            <a:srgbClr val="F8F9FA"/>
          </a:solidFill>
          <a:ln w="635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36208" y="1755648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3A5C"/>
                </a:solidFill>
              </a:rPr>
              <a:t>3×3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949440" y="1755648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3A5C"/>
                </a:solidFill>
              </a:rPr>
              <a:t>IoU %61,2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7662672" y="1755648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İç boşluklar kapanmıyor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6217920" y="2103120"/>
            <a:ext cx="2377440" cy="320040"/>
          </a:xfrm>
          <a:prstGeom prst="rect">
            <a:avLst/>
          </a:prstGeom>
          <a:solidFill>
            <a:srgbClr val="F8F9FA"/>
          </a:solidFill>
          <a:ln w="6350">
            <a:solidFill>
              <a:srgbClr val="D1DCE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36208" y="2103120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3A5C"/>
                </a:solidFill>
              </a:rPr>
              <a:t>5×5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6949440" y="2103120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3A5C"/>
                </a:solidFill>
              </a:rPr>
              <a:t>IoU %68,7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7662672" y="2103120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Kısmi iyileşme, yetersiz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6217920" y="2450592"/>
            <a:ext cx="2377440" cy="320040"/>
          </a:xfrm>
          <a:prstGeom prst="rect">
            <a:avLst/>
          </a:prstGeom>
          <a:solidFill>
            <a:srgbClr val="F8F9FA"/>
          </a:solidFill>
          <a:ln w="6350">
            <a:solidFill>
              <a:srgbClr val="D1DCE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36208" y="2450592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3A5C"/>
                </a:solidFill>
              </a:rPr>
              <a:t>7×7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6949440" y="2450592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3A5C"/>
                </a:solidFill>
              </a:rPr>
              <a:t>IoU %71,5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7662672" y="2450592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Sınıra yakın, iyi değil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6217920" y="2798064"/>
            <a:ext cx="2377440" cy="320040"/>
          </a:xfrm>
          <a:prstGeom prst="rect">
            <a:avLst/>
          </a:prstGeom>
          <a:solidFill>
            <a:srgbClr val="D5F0E3"/>
          </a:solidFill>
          <a:ln w="19050">
            <a:solidFill>
              <a:srgbClr val="1A7A4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236208" y="2798064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7A4A"/>
                </a:solidFill>
              </a:rPr>
              <a:t>9×9 ✓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6949440" y="2798064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7A4A"/>
                </a:solidFill>
              </a:rPr>
              <a:t>IoU %73,8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7662672" y="2798064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Peak — seçilen değer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6217920" y="3145536"/>
            <a:ext cx="2377440" cy="320040"/>
          </a:xfrm>
          <a:prstGeom prst="rect">
            <a:avLst/>
          </a:prstGeom>
          <a:solidFill>
            <a:srgbClr val="F8F9FA"/>
          </a:solidFill>
          <a:ln w="6350">
            <a:solidFill>
              <a:srgbClr val="D1DCE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236208" y="3145536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3A5C"/>
                </a:solidFill>
              </a:rPr>
              <a:t>11×11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6949440" y="3145536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3A5C"/>
                </a:solidFill>
              </a:rPr>
              <a:t>IoU %72,1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7662672" y="3145536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Aşırı dilatasyon başlıyor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6217920" y="3493008"/>
            <a:ext cx="2377440" cy="320040"/>
          </a:xfrm>
          <a:prstGeom prst="rect">
            <a:avLst/>
          </a:prstGeom>
          <a:solidFill>
            <a:srgbClr val="F8F9FA"/>
          </a:solidFill>
          <a:ln w="6350">
            <a:solidFill>
              <a:srgbClr val="D1DCE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236208" y="3493008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3A5C"/>
                </a:solidFill>
              </a:rPr>
              <a:t>13×13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6949440" y="3493008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3A5C"/>
                </a:solidFill>
              </a:rPr>
              <a:t>IoU %69,4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7662672" y="3493008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Belirgin FP artışı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411480" y="482803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Ters-U eğrisi: 9×9'da peak. Elips şekli alevin dairesel formuna uygun.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489204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23 / 25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164592"/>
            <a:ext cx="1920240" cy="246888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64592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6DA4"/>
                </a:solidFill>
              </a:rPr>
              <a:t>06 · SONUÇ &amp; GELECEK ÇALIŞMA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512064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Sistemin Güçlü &amp; Zayıf Yönleri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11480" y="1078992"/>
            <a:ext cx="1463040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207008"/>
            <a:ext cx="4160520" cy="34747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207008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Güçlü Yönler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1645920"/>
            <a:ext cx="41605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1682496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</a:rPr>
              <a:t>Donanım Bağımsızlığı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1938528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GPU/bulut gerektirmez. Raspberry Pi'de çalışır.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2267712"/>
            <a:ext cx="41605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2304288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</a:rPr>
              <a:t>Şeffaflık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2560320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Her piksel kararı matematiksel olarak gerekçelendirilebilir.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2889504"/>
            <a:ext cx="41605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" y="2926080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</a:rPr>
              <a:t>Gürbüzlük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3182112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5 kanal oylama: tek kanalın hatası sistemi çökertmez.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1480" y="3511296"/>
            <a:ext cx="41605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3547872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</a:rPr>
              <a:t>Sıfır Eğitim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3803904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Yeni görüntüde doğrudan çalışır; yeniden eğitim gerekmez.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11480" y="4133088"/>
            <a:ext cx="41605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48640" y="4169664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</a:rPr>
              <a:t>Deterministik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4425696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Aynı girdi = birebir aynı çıktı. Test/doğrulama basit.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54880" y="1207008"/>
            <a:ext cx="397764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120700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Kısıtlar &amp; Zayıf Yönler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754880" y="1645920"/>
            <a:ext cx="3977640" cy="548640"/>
          </a:xfrm>
          <a:prstGeom prst="rect">
            <a:avLst/>
          </a:prstGeom>
          <a:solidFill>
            <a:srgbClr val="F9EBEA"/>
          </a:solidFill>
          <a:ln w="6350">
            <a:solidFill>
              <a:srgbClr val="E8BFB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54880" y="1645920"/>
            <a:ext cx="64008" cy="5486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19472" y="168249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</a:rPr>
              <a:t>Duman-Alev Geçişi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19472" y="193852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Renk özelliklerinin iç içe geçtiği bölgelerde FP artıyor.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54880" y="2267712"/>
            <a:ext cx="3977640" cy="548640"/>
          </a:xfrm>
          <a:prstGeom prst="rect">
            <a:avLst/>
          </a:prstGeom>
          <a:solidFill>
            <a:srgbClr val="F9EBEA"/>
          </a:solidFill>
          <a:ln w="6350">
            <a:solidFill>
              <a:srgbClr val="E8BFB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54880" y="2267712"/>
            <a:ext cx="64008" cy="5486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19472" y="230428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</a:rPr>
              <a:t>Gece / Düşük Işık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919472" y="2560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Parlaklık ve HSV kanalları yetersiz kalıyor.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54880" y="2889504"/>
            <a:ext cx="3977640" cy="548640"/>
          </a:xfrm>
          <a:prstGeom prst="rect">
            <a:avLst/>
          </a:prstGeom>
          <a:solidFill>
            <a:srgbClr val="F9EBEA"/>
          </a:solidFill>
          <a:ln w="6350">
            <a:solidFill>
              <a:srgbClr val="E8BFB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54880" y="2889504"/>
            <a:ext cx="64008" cy="5486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19472" y="29260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</a:rPr>
              <a:t>Sabit Parametreler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919472" y="318211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Farklı kameralar için yeniden ayarlama gerekebilir.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54880" y="3511296"/>
            <a:ext cx="3977640" cy="548640"/>
          </a:xfrm>
          <a:prstGeom prst="rect">
            <a:avLst/>
          </a:prstGeom>
          <a:solidFill>
            <a:srgbClr val="F9EBEA"/>
          </a:solidFill>
          <a:ln w="6350">
            <a:solidFill>
              <a:srgbClr val="E8BFB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54880" y="3511296"/>
            <a:ext cx="64008" cy="5486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19472" y="354787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</a:rPr>
              <a:t>Yüksek Çözünürlük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919472" y="3803904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640×640+ boyutlarda işlem süresi doğrusal artıyor.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754880" y="4133088"/>
            <a:ext cx="3977640" cy="548640"/>
          </a:xfrm>
          <a:prstGeom prst="rect">
            <a:avLst/>
          </a:prstGeom>
          <a:solidFill>
            <a:srgbClr val="F9EBEA"/>
          </a:solidFill>
          <a:ln w="6350">
            <a:solidFill>
              <a:srgbClr val="E8BFB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754880" y="4133088"/>
            <a:ext cx="64008" cy="5486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19472" y="416966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</a:rPr>
              <a:t>Parlak Sarı Nesneler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919472" y="4425696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İnşaat ekipmanları, çiçekler yanlış pozitif üretebilir.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489204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24 / 25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164592"/>
            <a:ext cx="1920240" cy="246888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64592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6DA4"/>
                </a:solidFill>
              </a:rPr>
              <a:t>06 · SONUÇ &amp; GELECEK ÇALIŞMA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512064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Öğrenilenler &amp; Gelecek Çalışmalar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11480" y="1078992"/>
            <a:ext cx="1463040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20700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</a:rPr>
              <a:t>Bu Çalışmadan Öğrenilenler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1609344"/>
            <a:ext cx="41148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1609344"/>
            <a:ext cx="438912" cy="65836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609344"/>
            <a:ext cx="438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32688" y="1609344"/>
            <a:ext cx="3520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Veri kalitesi model kalitesi kadar belirleyici — hatalı etiket yanlış IoU skoru üretiyor.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" y="2359152"/>
            <a:ext cx="41148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" y="2359152"/>
            <a:ext cx="438912" cy="65836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359152"/>
            <a:ext cx="438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32688" y="2359152"/>
            <a:ext cx="3520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Tek renk uzayı tüm senaryolarda başarısız olabiliyor. Çok kanallı yaklaşım şart.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11480" y="3108960"/>
            <a:ext cx="41148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1480" y="3108960"/>
            <a:ext cx="438912" cy="65836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108960"/>
            <a:ext cx="438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32688" y="3108960"/>
            <a:ext cx="3520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Morfoloji parametreleri görünürde küçük değişikliklerin büyük etkisi olduğunu gösterdi.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1480" y="3858768"/>
            <a:ext cx="41148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11480" y="3858768"/>
            <a:ext cx="438912" cy="65836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858768"/>
            <a:ext cx="438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32688" y="3858768"/>
            <a:ext cx="3520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Kenar durumlar (gece, duman, uzak çekim) sistematik test olmadan fark edilmez.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754880" y="1207008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</a:rPr>
              <a:t>Gelecek Çalışmalar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54880" y="1609344"/>
            <a:ext cx="3977640" cy="34747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1609344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Kısa Vadeli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28032" y="2084832"/>
            <a:ext cx="164592" cy="164592"/>
          </a:xfrm>
          <a:prstGeom prst="ellipse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74920" y="201168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Adaptif eşikleme — histogram tabanlı otomatik VOTE_THR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28032" y="2478024"/>
            <a:ext cx="164592" cy="164592"/>
          </a:xfrm>
          <a:prstGeom prst="ellipse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74920" y="240487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Video süreklilik — Kalman filtresi ile ardışık kare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28032" y="2871216"/>
            <a:ext cx="164592" cy="164592"/>
          </a:xfrm>
          <a:prstGeom prst="ellipse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74920" y="279806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Kanal ağırlıklandırması — sahne koşuluna göre dinamik oy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3273552"/>
            <a:ext cx="3977640" cy="34747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327355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Uzun Vadeli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828032" y="3749040"/>
            <a:ext cx="164592" cy="164592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74920" y="367588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Duman ayrıştırması — Gabor + LBP doku öznitelikleri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28032" y="4142232"/>
            <a:ext cx="164592" cy="164592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74920" y="406908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Gömülü sistem testi — Jetson Nano / Raspberry Pi 4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28032" y="4535424"/>
            <a:ext cx="164592" cy="164592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74920" y="446227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İtfaiye bildirim sistemi entegrasyonu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0" y="0"/>
            <a:ext cx="4023360" cy="5143500"/>
          </a:xfrm>
          <a:prstGeom prst="rect">
            <a:avLst/>
          </a:prstGeom>
          <a:solidFill>
            <a:srgbClr val="142D47"/>
          </a:solidFill>
          <a:ln w="12700">
            <a:solidFill>
              <a:srgbClr val="142D4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166360" y="164592"/>
            <a:ext cx="3840480" cy="4800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" y="41148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B8D8"/>
                </a:solidFill>
              </a:rPr>
              <a:t>Özet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94360" y="777240"/>
            <a:ext cx="4389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Deterministik Pipeline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Learning Olmadan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Rekabetçi Başarı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594360" y="2331720"/>
            <a:ext cx="1280160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94360" y="2468880"/>
            <a:ext cx="1005840" cy="777240"/>
          </a:xfrm>
          <a:prstGeom prst="rect">
            <a:avLst/>
          </a:prstGeom>
          <a:solidFill>
            <a:srgbClr val="142D47"/>
          </a:solidFill>
          <a:ln w="6350">
            <a:solidFill>
              <a:srgbClr val="2E6DA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" y="2487168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%73,8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594360" y="290779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3B8D8"/>
                </a:solidFill>
              </a:rPr>
              <a:t>IoU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691640" y="2468880"/>
            <a:ext cx="1005840" cy="777240"/>
          </a:xfrm>
          <a:prstGeom prst="rect">
            <a:avLst/>
          </a:prstGeom>
          <a:solidFill>
            <a:srgbClr val="142D47"/>
          </a:solidFill>
          <a:ln w="6350">
            <a:solidFill>
              <a:srgbClr val="2E6DA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691640" y="2487168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%83,9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1691640" y="290779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3B8D8"/>
                </a:solidFill>
              </a:rPr>
              <a:t>Dice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788920" y="2468880"/>
            <a:ext cx="1005840" cy="777240"/>
          </a:xfrm>
          <a:prstGeom prst="rect">
            <a:avLst/>
          </a:prstGeom>
          <a:solidFill>
            <a:srgbClr val="142D47"/>
          </a:solidFill>
          <a:ln w="6350">
            <a:solidFill>
              <a:srgbClr val="2E6DA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788920" y="2487168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1.327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2788920" y="290779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3B8D8"/>
                </a:solidFill>
              </a:rPr>
              <a:t>Görsel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886200" y="2468880"/>
            <a:ext cx="1005840" cy="777240"/>
          </a:xfrm>
          <a:prstGeom prst="rect">
            <a:avLst/>
          </a:prstGeom>
          <a:solidFill>
            <a:srgbClr val="142D47"/>
          </a:solidFill>
          <a:ln w="6350">
            <a:solidFill>
              <a:srgbClr val="2E6DA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886200" y="2487168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3886200" y="290779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3B8D8"/>
                </a:solidFill>
              </a:rPr>
              <a:t>Adım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94360" y="342900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Teşekkürler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594360" y="39319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E9B"/>
                </a:solidFill>
              </a:rPr>
              <a:t>Dr. Hasibe Büşra Aytekin  ·  BIM 320  ·  Mayıs 2026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94360" y="431596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3B8D8"/>
                </a:solidFill>
              </a:rPr>
              <a:t>Sorularınız için hazırız.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Yangın Görüntülerinde Alev Segmentasyonu</dc:title>
  <dc:subject>PptxGenJS Presentation</dc:subject>
  <dc:creator>PptxGenJS</dc:creator>
  <cp:lastModifiedBy>PptxGenJS</cp:lastModifiedBy>
  <cp:revision>1</cp:revision>
  <dcterms:created xsi:type="dcterms:W3CDTF">2026-05-16T00:42:40Z</dcterms:created>
  <dcterms:modified xsi:type="dcterms:W3CDTF">2026-05-16T00:42:40Z</dcterms:modified>
</cp:coreProperties>
</file>